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D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65615" y="-1371600"/>
            <a:ext cx="4114800" cy="4114800"/>
          </a:xfrm>
          <a:prstGeom prst="ellipse">
            <a:avLst/>
          </a:prstGeom>
          <a:solidFill>
            <a:srgbClr val="C9A24A">
              <a:alpha val="8000"/>
            </a:srgbClr>
          </a:solidFill>
          <a:ln w="12700">
            <a:solidFill>
              <a:srgbClr val="C9A24A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48495" y="6492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spc="400" kern="0" dirty="0">
                <a:solidFill>
                  <a:srgbClr val="F5ED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Booker  · 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02920"/>
            <a:ext cx="365760" cy="1828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BOOKER STUDIO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10515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5ED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Книги, которые звучат как радиоспектакли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640080" y="45720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9A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«Начитано эмоционально. Сведено профессионально.»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5852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F5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Питч для спонсоров и партнёров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65615" y="-1371600"/>
            <a:ext cx="4114800" cy="4114800"/>
          </a:xfrm>
          <a:prstGeom prst="ellipse">
            <a:avLst/>
          </a:prstGeom>
          <a:solidFill>
            <a:srgbClr val="B85042">
              <a:alpha val="8000"/>
            </a:srgbClr>
          </a:solidFill>
          <a:ln w="12700">
            <a:solidFill>
              <a:srgbClr val="B85042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48495" y="6492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spc="400" kern="0" dirty="0">
                <a:solidFill>
                  <a:srgbClr val="5C4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Booker  · 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02920"/>
            <a:ext cx="365760" cy="1828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A1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Большинство книг никогда не станут аудио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107899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C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Профессиональная студийная запись стоит $3 000–$15 000 за книгу — недоступно для 90% авторов и издателей.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C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Одноголосые ИИ-озвучки звучат плоско: нет персонажей, нет эмоций, нет атмосферы.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C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Перевод на другой язык удваивает бюджет и время — большинство книг остаются монолингвальными.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C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Издатели и независимые авторы хотят аудио, но не имеют ни студии, ни актёров, ни звукорежиссёра.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65615" y="-1371600"/>
            <a:ext cx="4114800" cy="4114800"/>
          </a:xfrm>
          <a:prstGeom prst="ellipse">
            <a:avLst/>
          </a:prstGeom>
          <a:solidFill>
            <a:srgbClr val="B85042">
              <a:alpha val="8000"/>
            </a:srgbClr>
          </a:solidFill>
          <a:ln w="12700">
            <a:solidFill>
              <a:srgbClr val="B85042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48495" y="6492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spc="400" kern="0" dirty="0">
                <a:solidFill>
                  <a:srgbClr val="5C4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Booker  · 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02920"/>
            <a:ext cx="365760" cy="1828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A1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Аудиокниги — самый быстрорастущий сегмент издательского мира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36880" y="228600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EAE0CE">
              <a:alpha val="50000"/>
            </a:srgbClr>
          </a:solidFill>
          <a:ln w="9525">
            <a:solidFill>
              <a:srgbClr val="B85042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4040" y="24231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$8.7B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74040" y="32918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Глобальный рынок аудиокниг 2024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4040" y="38404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C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$35B к 2030 (CAGR 26%)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07512" y="228600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EAE0CE">
              <a:alpha val="50000"/>
            </a:srgbClr>
          </a:solidFill>
          <a:ln w="9525">
            <a:solidFill>
              <a:srgbClr val="B85042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44672" y="24231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4M+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544672" y="32918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Книг издаётся ежегодно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44672" y="38404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C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Менее 5% получают аудиоверсию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78144" y="228600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EAE0CE">
              <a:alpha val="50000"/>
            </a:srgbClr>
          </a:solidFill>
          <a:ln w="9525">
            <a:solidFill>
              <a:srgbClr val="B85042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15304" y="24231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50M+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315304" y="32918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Независимых авторов на Amazon KDP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15304" y="38404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C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Целевая аудитория Booker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948776" y="228600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EAE0CE">
              <a:alpha val="50000"/>
            </a:srgbClr>
          </a:solidFill>
          <a:ln w="9525">
            <a:solidFill>
              <a:srgbClr val="B85042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85936" y="24231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7000+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9085936" y="32918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Языков мира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085936" y="38404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C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Большинство книг — только на 1–2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2960" y="4937760"/>
            <a:ext cx="36576" cy="11887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493776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C4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Каждый автор и издатель — потенциальный клиент. Каждая книга — потенциальный аудиоспектакль на десятках языков.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65615" y="-1371600"/>
            <a:ext cx="4114800" cy="4114800"/>
          </a:xfrm>
          <a:prstGeom prst="ellipse">
            <a:avLst/>
          </a:prstGeom>
          <a:solidFill>
            <a:srgbClr val="B85042">
              <a:alpha val="8000"/>
            </a:srgbClr>
          </a:solidFill>
          <a:ln w="12700">
            <a:solidFill>
              <a:srgbClr val="B85042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48495" y="6492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spc="400" kern="0" dirty="0">
                <a:solidFill>
                  <a:srgbClr val="5C4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Booker  · 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02920"/>
            <a:ext cx="365760" cy="1828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A1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Booker превращает PDF в радиоспектакль за один клик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107899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C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Парсер: PDF/DOCX/FB2 → главы → сцены с настроением и темпом.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C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Профайлер: ИИ строит психологические портреты персонажей и подбирает им голоса.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C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голосов: Yandex, ElevenLabs, SaluteSpeech, OpenAI — с эмоциональным контролем.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C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Атмосфера и SFX: ИИ-генерация фоновых звуков и музыки под каждую сцену.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C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DAW-таймлайн: микшер, эквалайзер, реверберация, мастеринг — как в профессиональной студии.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C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Арт-перевод: книга на любой язык с радаром качества по 5 осям.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65615" y="-1371600"/>
            <a:ext cx="4114800" cy="4114800"/>
          </a:xfrm>
          <a:prstGeom prst="ellipse">
            <a:avLst/>
          </a:prstGeom>
          <a:solidFill>
            <a:srgbClr val="B85042">
              <a:alpha val="8000"/>
            </a:srgbClr>
          </a:solidFill>
          <a:ln w="12700">
            <a:solidFill>
              <a:srgbClr val="B85042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48495" y="6492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spc="400" kern="0" dirty="0">
                <a:solidFill>
                  <a:srgbClr val="5C4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Booker  · 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02920"/>
            <a:ext cx="365760" cy="1828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ТЕХНОЛОГИЯ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A1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Локально-первая архитектура. Вычисления — на устройстве пользователя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36880" y="228600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EAE0CE">
              <a:alpha val="50000"/>
            </a:srgbClr>
          </a:solidFill>
          <a:ln w="9525">
            <a:solidFill>
              <a:srgbClr val="B85042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4040" y="24231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OPFS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74040" y="32918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Private File System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4040" y="38404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C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проекты — в браузере пользователя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07512" y="228600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EAE0CE">
              <a:alpha val="50000"/>
            </a:srgbClr>
          </a:solidFill>
          <a:ln w="9525">
            <a:solidFill>
              <a:srgbClr val="B85042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44672" y="24231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WebGPU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544672" y="32918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Conversion + ONNX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44672" y="38404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C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RVC v2, F5-TTS, OmniVoice локально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78144" y="228600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EAE0CE">
              <a:alpha val="50000"/>
            </a:srgbClr>
          </a:solidFill>
          <a:ln w="9525">
            <a:solidFill>
              <a:srgbClr val="B85042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15304" y="24231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315304" y="32918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Edge Functions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15304" y="38404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C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Тонкая прослойка для ИИ-роутинга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948776" y="228600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EAE0CE">
              <a:alpha val="50000"/>
            </a:srgbClr>
          </a:solidFill>
          <a:ln w="9525">
            <a:solidFill>
              <a:srgbClr val="B85042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85936" y="24231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$0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9085936" y="32918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Серверной инфраструктуры на пользователя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085936" y="38404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C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Тяжёлая работа — на клиенте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2960" y="4937760"/>
            <a:ext cx="36576" cy="11887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493776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C4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Stack: React + TypeScript + Tone.js + Web Audio API + ONNX Runtime Web + Supabase. Multi-provider TTS, AI Roles, Model Pools.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65615" y="-1371600"/>
            <a:ext cx="4114800" cy="4114800"/>
          </a:xfrm>
          <a:prstGeom prst="ellipse">
            <a:avLst/>
          </a:prstGeom>
          <a:solidFill>
            <a:srgbClr val="B85042">
              <a:alpha val="8000"/>
            </a:srgbClr>
          </a:solidFill>
          <a:ln w="12700">
            <a:solidFill>
              <a:srgbClr val="B85042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48495" y="6492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spc="400" kern="0" dirty="0">
                <a:solidFill>
                  <a:srgbClr val="5C4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Booker  · 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02920"/>
            <a:ext cx="365760" cy="1828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ЮНИТ-ЭКОНОМИКА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A1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Стоимость одной книги стремится к нулю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36880" y="228600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EAE0CE">
              <a:alpha val="50000"/>
            </a:srgbClr>
          </a:solidFill>
          <a:ln w="9525">
            <a:solidFill>
              <a:srgbClr val="B85042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4040" y="24231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$0.02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74040" y="32918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Серверная часть на книгу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4040" y="38404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C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Functions + Storage backup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07512" y="228600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EAE0CE">
              <a:alpha val="50000"/>
            </a:srgbClr>
          </a:solidFill>
          <a:ln w="9525">
            <a:solidFill>
              <a:srgbClr val="B85042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44672" y="24231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$2-15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544672" y="32918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ТТС-провайдер на книгу (300 стр.)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44672" y="38404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C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Платит пользователь напрямую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78144" y="228600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EAE0CE">
              <a:alpha val="50000"/>
            </a:srgbClr>
          </a:solidFill>
          <a:ln w="9525">
            <a:solidFill>
              <a:srgbClr val="B85042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15304" y="24231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$3000+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315304" y="32918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Студийный бенчмарк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15304" y="38404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C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Booker дешевле в 200-1000 раз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948776" y="228600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EAE0CE">
              <a:alpha val="50000"/>
            </a:srgbClr>
          </a:solidFill>
          <a:ln w="9525">
            <a:solidFill>
              <a:srgbClr val="B85042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85936" y="24231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90%+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9085936" y="32918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Маржа на премиум-подписке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085936" y="38404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C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плане $19-49/мес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2960" y="4937760"/>
            <a:ext cx="36576" cy="11887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493776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C4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«Локально-первая» архитектура = серверные расходы не растут с числом пользователей. Это редкое экономическое свойство для AI-продуктов.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65615" y="-1371600"/>
            <a:ext cx="4114800" cy="4114800"/>
          </a:xfrm>
          <a:prstGeom prst="ellipse">
            <a:avLst/>
          </a:prstGeom>
          <a:solidFill>
            <a:srgbClr val="B85042">
              <a:alpha val="8000"/>
            </a:srgbClr>
          </a:solidFill>
          <a:ln w="12700">
            <a:solidFill>
              <a:srgbClr val="B85042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48495" y="6492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spc="400" kern="0" dirty="0">
                <a:solidFill>
                  <a:srgbClr val="5C4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Booker  · 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02920"/>
            <a:ext cx="365760" cy="1828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A1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уже работает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107899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C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пайплайн: парсер → раскадровка → синтез → мастеринг → рендер главы (WAV/MP3).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C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ТТС-провайдера, 6 ИИ-ролей, 40+ голосов, психотип-профилирование персонажей.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C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Conversion (RVC v2 + WavLM) на WebGPU — клонирование голоса в браузере.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C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Арт-перевод с Quality Radar (5 осей: смысл, ритм, стиль, культура, фонетика).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C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booker-studio.lovable.app — тестируйте прямо сейчас.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5C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Roadmap: каталог готовых аудиокниг, маркетплейс голосов, мобильное приложение.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2D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65615" y="-1371600"/>
            <a:ext cx="4114800" cy="4114800"/>
          </a:xfrm>
          <a:prstGeom prst="ellipse">
            <a:avLst/>
          </a:prstGeom>
          <a:solidFill>
            <a:srgbClr val="C9A24A">
              <a:alpha val="8000"/>
            </a:srgbClr>
          </a:solidFill>
          <a:ln w="12700">
            <a:solidFill>
              <a:srgbClr val="C9A24A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48495" y="6492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spc="400" kern="0" dirty="0">
                <a:solidFill>
                  <a:srgbClr val="F5ED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Booker  · 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02920"/>
            <a:ext cx="365760" cy="1828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ВОПРОСЫ И КОНТАКТ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5ED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мы ищем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769468" y="237744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F5EDE0">
              <a:alpha val="12000"/>
            </a:srgbClr>
          </a:solidFill>
          <a:ln w="9525">
            <a:solidFill>
              <a:srgbClr val="C9A24A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8068" y="251460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Спонсоров и грантодателей — для ускорения разработки и наполнения каталога.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0148" y="237744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F5EDE0">
              <a:alpha val="12000"/>
            </a:srgbClr>
          </a:solidFill>
          <a:ln w="9525">
            <a:solidFill>
              <a:srgbClr val="C9A24A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38748" y="251460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Партнёров-издателей — для пилотных проектов локализации книг в аудио.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69468" y="388620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F5EDE0">
              <a:alpha val="12000"/>
            </a:srgbClr>
          </a:solidFill>
          <a:ln w="9525">
            <a:solidFill>
              <a:srgbClr val="C9A24A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8068" y="402336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Актёров озвучивания — для расширения голосового маркетплейса.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0148" y="388620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F5EDE0">
              <a:alpha val="12000"/>
            </a:srgbClr>
          </a:solidFill>
          <a:ln w="9525">
            <a:solidFill>
              <a:srgbClr val="C9A24A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8748" y="402336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Обратной связи и идей — мы открыты к диалогу.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C9A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booker-studio.lovable.app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Booker — Питч для спонсоров</dc:title>
  <dc:subject>PptxGenJS Presentation</dc:subject>
  <dc:creator>AI Booker Studio</dc:creator>
  <cp:lastModifiedBy>AI Booker Studio</cp:lastModifiedBy>
  <cp:revision>1</cp:revision>
  <dcterms:created xsi:type="dcterms:W3CDTF">2026-04-18T17:15:35Z</dcterms:created>
  <dcterms:modified xsi:type="dcterms:W3CDTF">2026-04-18T17:15:35Z</dcterms:modified>
</cp:coreProperties>
</file>